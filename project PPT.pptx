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2.xml" ContentType="application/vnd.openxmlformats-officedocument.theme+xml"/>
  <Override PartName="/ppt/tags/tag5.xml" ContentType="application/vnd.openxmlformats-officedocument.presentationml.tags+xml"/>
  <Override PartName="/ppt/notesSlides/notesSlide1.xml" ContentType="application/vnd.openxmlformats-officedocument.presentationml.notesSlide+xml"/>
  <Override PartName="/ppt/tags/tag6.xml" ContentType="application/vnd.openxmlformats-officedocument.presentationml.tags+xml"/>
  <Override PartName="/ppt/notesSlides/notesSlide2.xml" ContentType="application/vnd.openxmlformats-officedocument.presentationml.notesSlide+xml"/>
  <Override PartName="/ppt/tags/tag7.xml" ContentType="application/vnd.openxmlformats-officedocument.presentationml.tags+xml"/>
  <Override PartName="/ppt/notesSlides/notesSlide3.xml" ContentType="application/vnd.openxmlformats-officedocument.presentationml.notesSlide+xml"/>
  <Override PartName="/ppt/tags/tag8.xml" ContentType="application/vnd.openxmlformats-officedocument.presentationml.tags+xml"/>
  <Override PartName="/ppt/notesSlides/notesSlide4.xml" ContentType="application/vnd.openxmlformats-officedocument.presentationml.notesSlide+xml"/>
  <Override PartName="/ppt/tags/tag9.xml" ContentType="application/vnd.openxmlformats-officedocument.presentationml.tags+xml"/>
  <Override PartName="/ppt/notesSlides/notesSlide5.xml" ContentType="application/vnd.openxmlformats-officedocument.presentationml.notesSlide+xml"/>
  <Override PartName="/ppt/tags/tag10.xml" ContentType="application/vnd.openxmlformats-officedocument.presentationml.tags+xml"/>
  <Override PartName="/ppt/notesSlides/notesSlide6.xml" ContentType="application/vnd.openxmlformats-officedocument.presentationml.notesSlide+xml"/>
  <Override PartName="/ppt/tags/tag11.xml" ContentType="application/vnd.openxmlformats-officedocument.presentationml.tags+xml"/>
  <Override PartName="/ppt/notesSlides/notesSlide7.xml" ContentType="application/vnd.openxmlformats-officedocument.presentationml.notesSlide+xml"/>
  <Override PartName="/ppt/tags/tag12.xml" ContentType="application/vnd.openxmlformats-officedocument.presentationml.tags+xml"/>
  <Override PartName="/ppt/notesSlides/notesSlide8.xml" ContentType="application/vnd.openxmlformats-officedocument.presentationml.notesSlide+xml"/>
  <Override PartName="/ppt/tags/tag13.xml" ContentType="application/vnd.openxmlformats-officedocument.presentationml.tags+xml"/>
  <Override PartName="/ppt/notesSlides/notesSlide9.xml" ContentType="application/vnd.openxmlformats-officedocument.presentationml.notesSlide+xml"/>
  <Override PartName="/ppt/tags/tag14.xml" ContentType="application/vnd.openxmlformats-officedocument.presentationml.tags+xml"/>
  <Override PartName="/ppt/notesSlides/notesSlide10.xml" ContentType="application/vnd.openxmlformats-officedocument.presentationml.notesSlide+xml"/>
  <Override PartName="/ppt/tags/tag15.xml" ContentType="application/vnd.openxmlformats-officedocument.presentationml.tags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68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custDataLst>
    <p:tags r:id="rId14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2" userDrawn="1">
          <p15:clr>
            <a:srgbClr val="A4A3A4"/>
          </p15:clr>
        </p15:guide>
        <p15:guide id="2" orient="horz" pos="852" userDrawn="1">
          <p15:clr>
            <a:srgbClr val="A4A3A4"/>
          </p15:clr>
        </p15:guide>
        <p15:guide id="3" pos="14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3ED"/>
    <a:srgbClr val="CEE3FA"/>
    <a:srgbClr val="156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4CBDC38-0F0C-EF0A-5169-FC033B4B9FA1}" v="4" dt="2026-02-19T06:35:51.132"/>
    <p1510:client id="{DDC0B4EE-2D5D-447B-AE11-6BA75CAE74F0}" v="57" dt="2026-02-19T11:04:26.37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739" y="86"/>
      </p:cViewPr>
      <p:guideLst>
        <p:guide orient="horz" pos="612"/>
        <p:guide orient="horz" pos="852"/>
        <p:guide pos="14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06544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B537A-B4DE-D1CE-3512-BCBDE4AC7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8C2033-F357-E6BE-5BF1-877BC1AD1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567B0F-4F1D-ECFE-050E-B551ABF85E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98896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2652038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8">
            <a:extLst>
              <a:ext uri="{FF2B5EF4-FFF2-40B4-BE49-F238E27FC236}">
                <a16:creationId xmlns:a16="http://schemas.microsoft.com/office/drawing/2014/main" id="{A68FA2BF-9B6A-948D-43A3-04C207F5B33C}"/>
              </a:ext>
            </a:extLst>
          </p:cNvPr>
          <p:cNvGrpSpPr/>
          <p:nvPr userDrawn="1"/>
        </p:nvGrpSpPr>
        <p:grpSpPr>
          <a:xfrm flipH="1">
            <a:off x="0" y="5036127"/>
            <a:ext cx="9144000" cy="107373"/>
            <a:chOff x="0" y="0"/>
            <a:chExt cx="4402382" cy="66464"/>
          </a:xfrm>
        </p:grpSpPr>
        <p:sp>
          <p:nvSpPr>
            <p:cNvPr id="3" name="Freeform 9">
              <a:extLst>
                <a:ext uri="{FF2B5EF4-FFF2-40B4-BE49-F238E27FC236}">
                  <a16:creationId xmlns:a16="http://schemas.microsoft.com/office/drawing/2014/main" id="{8B83B97F-BA22-827B-E1BD-8DD9E1D3E0F6}"/>
                </a:ext>
              </a:extLst>
            </p:cNvPr>
            <p:cNvSpPr/>
            <p:nvPr/>
          </p:nvSpPr>
          <p:spPr>
            <a:xfrm>
              <a:off x="0" y="0"/>
              <a:ext cx="4402382" cy="66464"/>
            </a:xfrm>
            <a:custGeom>
              <a:avLst/>
              <a:gdLst/>
              <a:ahLst/>
              <a:cxnLst/>
              <a:rect l="l" t="t" r="r" b="b"/>
              <a:pathLst>
                <a:path w="4402382" h="66464">
                  <a:moveTo>
                    <a:pt x="0" y="0"/>
                  </a:moveTo>
                  <a:lnTo>
                    <a:pt x="4402382" y="0"/>
                  </a:lnTo>
                  <a:lnTo>
                    <a:pt x="44023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10">
              <a:extLst>
                <a:ext uri="{FF2B5EF4-FFF2-40B4-BE49-F238E27FC236}">
                  <a16:creationId xmlns:a16="http://schemas.microsoft.com/office/drawing/2014/main" id="{FC94FAC8-E161-FF7D-84BF-C498EADA502D}"/>
                </a:ext>
              </a:extLst>
            </p:cNvPr>
            <p:cNvSpPr txBox="1"/>
            <p:nvPr/>
          </p:nvSpPr>
          <p:spPr>
            <a:xfrm>
              <a:off x="0" y="-38100"/>
              <a:ext cx="4402382" cy="1045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8">
            <a:extLst>
              <a:ext uri="{FF2B5EF4-FFF2-40B4-BE49-F238E27FC236}">
                <a16:creationId xmlns:a16="http://schemas.microsoft.com/office/drawing/2014/main" id="{1988876B-43B4-642F-AB10-8B137A34386D}"/>
              </a:ext>
            </a:extLst>
          </p:cNvPr>
          <p:cNvGrpSpPr/>
          <p:nvPr userDrawn="1"/>
        </p:nvGrpSpPr>
        <p:grpSpPr>
          <a:xfrm>
            <a:off x="0" y="0"/>
            <a:ext cx="9144000" cy="424206"/>
            <a:chOff x="0" y="0"/>
            <a:chExt cx="4402382" cy="66464"/>
          </a:xfrm>
        </p:grpSpPr>
        <p:sp>
          <p:nvSpPr>
            <p:cNvPr id="6" name="Freeform 9">
              <a:extLst>
                <a:ext uri="{FF2B5EF4-FFF2-40B4-BE49-F238E27FC236}">
                  <a16:creationId xmlns:a16="http://schemas.microsoft.com/office/drawing/2014/main" id="{613EFC18-F90F-C121-3F09-53AB8141D658}"/>
                </a:ext>
              </a:extLst>
            </p:cNvPr>
            <p:cNvSpPr/>
            <p:nvPr/>
          </p:nvSpPr>
          <p:spPr>
            <a:xfrm>
              <a:off x="0" y="0"/>
              <a:ext cx="4402382" cy="66464"/>
            </a:xfrm>
            <a:custGeom>
              <a:avLst/>
              <a:gdLst/>
              <a:ahLst/>
              <a:cxnLst/>
              <a:rect l="l" t="t" r="r" b="b"/>
              <a:pathLst>
                <a:path w="4402382" h="66464">
                  <a:moveTo>
                    <a:pt x="0" y="0"/>
                  </a:moveTo>
                  <a:lnTo>
                    <a:pt x="4402382" y="0"/>
                  </a:lnTo>
                  <a:lnTo>
                    <a:pt x="44023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Box 10">
              <a:extLst>
                <a:ext uri="{FF2B5EF4-FFF2-40B4-BE49-F238E27FC236}">
                  <a16:creationId xmlns:a16="http://schemas.microsoft.com/office/drawing/2014/main" id="{D81422F7-8BE4-EC53-5307-9812E24315C1}"/>
                </a:ext>
              </a:extLst>
            </p:cNvPr>
            <p:cNvSpPr txBox="1"/>
            <p:nvPr/>
          </p:nvSpPr>
          <p:spPr>
            <a:xfrm>
              <a:off x="0" y="-38100"/>
              <a:ext cx="4402382" cy="1045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8" name="Picture 7" descr="A black and white logo&#10;&#10;AI-generated content may be incorrect.">
            <a:extLst>
              <a:ext uri="{FF2B5EF4-FFF2-40B4-BE49-F238E27FC236}">
                <a16:creationId xmlns:a16="http://schemas.microsoft.com/office/drawing/2014/main" id="{31AC86FC-94F1-13A5-98FD-3215960D2A0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7820696" y="55166"/>
            <a:ext cx="965086" cy="313873"/>
          </a:xfrm>
          <a:prstGeom prst="rect">
            <a:avLst/>
          </a:prstGeom>
        </p:spPr>
      </p:pic>
    </p:spTree>
    <p:custDataLst>
      <p:tags r:id="rId4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notesSlide" Target="../notesSlides/notesSlide1.xml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Relationship Id="rId5" Type="http://schemas.openxmlformats.org/officeDocument/2006/relationships/image" Target="../../clipboard/media/image2.sv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8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9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2.xml"/><Relationship Id="rId4" Type="http://schemas.openxmlformats.org/officeDocument/2006/relationships/hyperlink" Target="https://1drv.ms/v/c/c54ba3bd296ecefd/IQAZiKX--4IhQaU71Q5OgC82ATBplKqLNmg3QUPG6DcmjJM?e=bfg5td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3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4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219A4-F5CF-3B84-A831-006143830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5BBAA9FE-14A6-3635-BDE0-21E75B60255D}"/>
              </a:ext>
            </a:extLst>
          </p:cNvPr>
          <p:cNvSpPr/>
          <p:nvPr/>
        </p:nvSpPr>
        <p:spPr>
          <a:xfrm>
            <a:off x="364882" y="652908"/>
            <a:ext cx="3603333" cy="485021"/>
          </a:xfrm>
          <a:prstGeom prst="roundRect">
            <a:avLst/>
          </a:prstGeom>
          <a:solidFill>
            <a:schemeClr val="bg1"/>
          </a:solidFill>
          <a:ln>
            <a:solidFill>
              <a:srgbClr val="1D63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2" name="Group 2">
            <a:extLst>
              <a:ext uri="{FF2B5EF4-FFF2-40B4-BE49-F238E27FC236}">
                <a16:creationId xmlns:a16="http://schemas.microsoft.com/office/drawing/2014/main" id="{DC713F69-E6DD-B345-33D3-499B008F7A17}"/>
              </a:ext>
            </a:extLst>
          </p:cNvPr>
          <p:cNvGrpSpPr/>
          <p:nvPr/>
        </p:nvGrpSpPr>
        <p:grpSpPr>
          <a:xfrm>
            <a:off x="0" y="0"/>
            <a:ext cx="4153368" cy="126178"/>
            <a:chOff x="0" y="0"/>
            <a:chExt cx="2187782" cy="66464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16F12EA0-AE27-85D3-96E6-BED52A471BC9}"/>
                </a:ext>
              </a:extLst>
            </p:cNvPr>
            <p:cNvSpPr/>
            <p:nvPr/>
          </p:nvSpPr>
          <p:spPr>
            <a:xfrm>
              <a:off x="0" y="0"/>
              <a:ext cx="2187782" cy="66464"/>
            </a:xfrm>
            <a:custGeom>
              <a:avLst/>
              <a:gdLst/>
              <a:ahLst/>
              <a:cxnLst/>
              <a:rect l="l" t="t" r="r" b="b"/>
              <a:pathLst>
                <a:path w="2187782" h="66464">
                  <a:moveTo>
                    <a:pt x="0" y="0"/>
                  </a:moveTo>
                  <a:lnTo>
                    <a:pt x="2187782" y="0"/>
                  </a:lnTo>
                  <a:lnTo>
                    <a:pt x="21877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EEDED881-7208-D373-6128-A08573FEEA11}"/>
                </a:ext>
              </a:extLst>
            </p:cNvPr>
            <p:cNvSpPr txBox="1"/>
            <p:nvPr/>
          </p:nvSpPr>
          <p:spPr>
            <a:xfrm>
              <a:off x="0" y="-38100"/>
              <a:ext cx="2187782" cy="104564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071C7EC6-7D4C-F061-CDE0-6A50914ECB9E}"/>
              </a:ext>
            </a:extLst>
          </p:cNvPr>
          <p:cNvGrpSpPr/>
          <p:nvPr/>
        </p:nvGrpSpPr>
        <p:grpSpPr>
          <a:xfrm>
            <a:off x="0" y="5017322"/>
            <a:ext cx="7571294" cy="126178"/>
            <a:chOff x="0" y="0"/>
            <a:chExt cx="3988171" cy="66464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B4AD79D7-46FD-6B0C-7DE4-FF78018F4A88}"/>
                </a:ext>
              </a:extLst>
            </p:cNvPr>
            <p:cNvSpPr/>
            <p:nvPr/>
          </p:nvSpPr>
          <p:spPr>
            <a:xfrm>
              <a:off x="0" y="0"/>
              <a:ext cx="3988171" cy="66464"/>
            </a:xfrm>
            <a:custGeom>
              <a:avLst/>
              <a:gdLst/>
              <a:ahLst/>
              <a:cxnLst/>
              <a:rect l="l" t="t" r="r" b="b"/>
              <a:pathLst>
                <a:path w="3988171" h="66464">
                  <a:moveTo>
                    <a:pt x="0" y="0"/>
                  </a:moveTo>
                  <a:lnTo>
                    <a:pt x="3988171" y="0"/>
                  </a:lnTo>
                  <a:lnTo>
                    <a:pt x="3988171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C396E051-FCE8-96D0-093A-9DAA0B6CA32C}"/>
                </a:ext>
              </a:extLst>
            </p:cNvPr>
            <p:cNvSpPr txBox="1"/>
            <p:nvPr/>
          </p:nvSpPr>
          <p:spPr>
            <a:xfrm>
              <a:off x="0" y="-38100"/>
              <a:ext cx="3988171" cy="104564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614E0FB1-7343-AA0B-7107-6EF9941BD391}"/>
              </a:ext>
            </a:extLst>
          </p:cNvPr>
          <p:cNvGrpSpPr/>
          <p:nvPr/>
        </p:nvGrpSpPr>
        <p:grpSpPr>
          <a:xfrm rot="2700000">
            <a:off x="3941754" y="-413023"/>
            <a:ext cx="4274297" cy="2123257"/>
            <a:chOff x="0" y="0"/>
            <a:chExt cx="2424267" cy="1118423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AFFC971-D518-DC63-82CA-066EEEE8BD9D}"/>
                </a:ext>
              </a:extLst>
            </p:cNvPr>
            <p:cNvSpPr/>
            <p:nvPr/>
          </p:nvSpPr>
          <p:spPr>
            <a:xfrm>
              <a:off x="0" y="0"/>
              <a:ext cx="2424267" cy="1118423"/>
            </a:xfrm>
            <a:custGeom>
              <a:avLst/>
              <a:gdLst/>
              <a:ahLst/>
              <a:cxnLst/>
              <a:rect l="l" t="t" r="r" b="b"/>
              <a:pathLst>
                <a:path w="2424267" h="1118423">
                  <a:moveTo>
                    <a:pt x="0" y="0"/>
                  </a:moveTo>
                  <a:lnTo>
                    <a:pt x="2424267" y="0"/>
                  </a:lnTo>
                  <a:lnTo>
                    <a:pt x="2424267" y="1118423"/>
                  </a:lnTo>
                  <a:lnTo>
                    <a:pt x="0" y="1118423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EF1F892B-32CB-D20F-CD5E-29D9DD282E0B}"/>
                </a:ext>
              </a:extLst>
            </p:cNvPr>
            <p:cNvSpPr txBox="1"/>
            <p:nvPr/>
          </p:nvSpPr>
          <p:spPr>
            <a:xfrm>
              <a:off x="0" y="-38100"/>
              <a:ext cx="2424267" cy="1156523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0903312A-41E4-0C98-DB5C-2FD31C761F00}"/>
              </a:ext>
            </a:extLst>
          </p:cNvPr>
          <p:cNvGrpSpPr/>
          <p:nvPr/>
        </p:nvGrpSpPr>
        <p:grpSpPr>
          <a:xfrm rot="2700000">
            <a:off x="5632358" y="303921"/>
            <a:ext cx="3724082" cy="1064394"/>
            <a:chOff x="0" y="0"/>
            <a:chExt cx="1961656" cy="560668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A8440D19-D63B-AF33-3EAE-F2B37D5CF256}"/>
                </a:ext>
              </a:extLst>
            </p:cNvPr>
            <p:cNvSpPr/>
            <p:nvPr/>
          </p:nvSpPr>
          <p:spPr>
            <a:xfrm>
              <a:off x="0" y="0"/>
              <a:ext cx="1961656" cy="560668"/>
            </a:xfrm>
            <a:custGeom>
              <a:avLst/>
              <a:gdLst/>
              <a:ahLst/>
              <a:cxnLst/>
              <a:rect l="l" t="t" r="r" b="b"/>
              <a:pathLst>
                <a:path w="1961656" h="560668">
                  <a:moveTo>
                    <a:pt x="0" y="0"/>
                  </a:moveTo>
                  <a:lnTo>
                    <a:pt x="1961656" y="0"/>
                  </a:lnTo>
                  <a:lnTo>
                    <a:pt x="1961656" y="560668"/>
                  </a:lnTo>
                  <a:lnTo>
                    <a:pt x="0" y="560668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70297523-D0C9-81EB-FA45-802E3E7D096A}"/>
                </a:ext>
              </a:extLst>
            </p:cNvPr>
            <p:cNvSpPr txBox="1"/>
            <p:nvPr/>
          </p:nvSpPr>
          <p:spPr>
            <a:xfrm>
              <a:off x="0" y="-38100"/>
              <a:ext cx="1961656" cy="598768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3AF039C7-166F-DC3C-FD40-F2CACE3926F2}"/>
              </a:ext>
            </a:extLst>
          </p:cNvPr>
          <p:cNvGrpSpPr/>
          <p:nvPr/>
        </p:nvGrpSpPr>
        <p:grpSpPr>
          <a:xfrm rot="2700000">
            <a:off x="7528217" y="-892816"/>
            <a:ext cx="2873959" cy="1967021"/>
            <a:chOff x="0" y="0"/>
            <a:chExt cx="1513855" cy="1036126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166C2FB9-D184-461A-308A-1F6AFD5F7BBF}"/>
                </a:ext>
              </a:extLst>
            </p:cNvPr>
            <p:cNvSpPr/>
            <p:nvPr/>
          </p:nvSpPr>
          <p:spPr>
            <a:xfrm>
              <a:off x="0" y="0"/>
              <a:ext cx="1513855" cy="1036126"/>
            </a:xfrm>
            <a:custGeom>
              <a:avLst/>
              <a:gdLst/>
              <a:ahLst/>
              <a:cxnLst/>
              <a:rect l="l" t="t" r="r" b="b"/>
              <a:pathLst>
                <a:path w="1513855" h="1036126">
                  <a:moveTo>
                    <a:pt x="0" y="0"/>
                  </a:moveTo>
                  <a:lnTo>
                    <a:pt x="1513855" y="0"/>
                  </a:lnTo>
                  <a:lnTo>
                    <a:pt x="1513855" y="1036126"/>
                  </a:lnTo>
                  <a:lnTo>
                    <a:pt x="0" y="1036126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D78B5C6B-C409-CCBB-2B06-FBD31CAC99E4}"/>
                </a:ext>
              </a:extLst>
            </p:cNvPr>
            <p:cNvSpPr txBox="1"/>
            <p:nvPr/>
          </p:nvSpPr>
          <p:spPr>
            <a:xfrm>
              <a:off x="0" y="-38100"/>
              <a:ext cx="1513855" cy="1074226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BB6CD3B7-9C29-31B7-074F-1C8E56CB1626}"/>
              </a:ext>
            </a:extLst>
          </p:cNvPr>
          <p:cNvGrpSpPr/>
          <p:nvPr/>
        </p:nvGrpSpPr>
        <p:grpSpPr>
          <a:xfrm rot="2700000">
            <a:off x="6756840" y="4003698"/>
            <a:ext cx="4602320" cy="2123257"/>
            <a:chOff x="0" y="0"/>
            <a:chExt cx="2424267" cy="1118423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059C69CD-FBFA-E4B4-AA86-445D5367D190}"/>
                </a:ext>
              </a:extLst>
            </p:cNvPr>
            <p:cNvSpPr/>
            <p:nvPr/>
          </p:nvSpPr>
          <p:spPr>
            <a:xfrm>
              <a:off x="0" y="0"/>
              <a:ext cx="2424267" cy="1118423"/>
            </a:xfrm>
            <a:custGeom>
              <a:avLst/>
              <a:gdLst/>
              <a:ahLst/>
              <a:cxnLst/>
              <a:rect l="l" t="t" r="r" b="b"/>
              <a:pathLst>
                <a:path w="2424267" h="1118423">
                  <a:moveTo>
                    <a:pt x="0" y="0"/>
                  </a:moveTo>
                  <a:lnTo>
                    <a:pt x="2424267" y="0"/>
                  </a:lnTo>
                  <a:lnTo>
                    <a:pt x="2424267" y="1118423"/>
                  </a:lnTo>
                  <a:lnTo>
                    <a:pt x="0" y="1118423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3FFFD043-6DDC-803C-1EE7-E745D2CD7192}"/>
                </a:ext>
              </a:extLst>
            </p:cNvPr>
            <p:cNvSpPr txBox="1"/>
            <p:nvPr/>
          </p:nvSpPr>
          <p:spPr>
            <a:xfrm>
              <a:off x="0" y="-38100"/>
              <a:ext cx="2424267" cy="1156523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20" name="Group 20">
            <a:extLst>
              <a:ext uri="{FF2B5EF4-FFF2-40B4-BE49-F238E27FC236}">
                <a16:creationId xmlns:a16="http://schemas.microsoft.com/office/drawing/2014/main" id="{40B8BCE7-F5DB-C74D-120E-15FE119805F6}"/>
              </a:ext>
            </a:extLst>
          </p:cNvPr>
          <p:cNvGrpSpPr/>
          <p:nvPr/>
        </p:nvGrpSpPr>
        <p:grpSpPr>
          <a:xfrm rot="2700000">
            <a:off x="7842195" y="3672519"/>
            <a:ext cx="2166949" cy="1126189"/>
            <a:chOff x="0" y="0"/>
            <a:chExt cx="1141438" cy="593219"/>
          </a:xfrm>
        </p:grpSpPr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7CCA289A-B33A-364F-D970-B4B0741374DB}"/>
                </a:ext>
              </a:extLst>
            </p:cNvPr>
            <p:cNvSpPr/>
            <p:nvPr/>
          </p:nvSpPr>
          <p:spPr>
            <a:xfrm>
              <a:off x="0" y="0"/>
              <a:ext cx="1141438" cy="593219"/>
            </a:xfrm>
            <a:custGeom>
              <a:avLst/>
              <a:gdLst/>
              <a:ahLst/>
              <a:cxnLst/>
              <a:rect l="l" t="t" r="r" b="b"/>
              <a:pathLst>
                <a:path w="1141438" h="593219">
                  <a:moveTo>
                    <a:pt x="0" y="0"/>
                  </a:moveTo>
                  <a:lnTo>
                    <a:pt x="1141438" y="0"/>
                  </a:lnTo>
                  <a:lnTo>
                    <a:pt x="1141438" y="593219"/>
                  </a:lnTo>
                  <a:lnTo>
                    <a:pt x="0" y="593219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6D1B43F8-87A5-2EDD-F149-BE82A2984EB5}"/>
                </a:ext>
              </a:extLst>
            </p:cNvPr>
            <p:cNvSpPr txBox="1"/>
            <p:nvPr/>
          </p:nvSpPr>
          <p:spPr>
            <a:xfrm>
              <a:off x="0" y="-38100"/>
              <a:ext cx="1141438" cy="631319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id="{2ABF0622-9241-CD75-6B4F-4578A248FF9B}"/>
              </a:ext>
            </a:extLst>
          </p:cNvPr>
          <p:cNvGrpSpPr/>
          <p:nvPr/>
        </p:nvGrpSpPr>
        <p:grpSpPr>
          <a:xfrm>
            <a:off x="5720497" y="768985"/>
            <a:ext cx="3475712" cy="3475712"/>
            <a:chOff x="0" y="0"/>
            <a:chExt cx="812800" cy="812800"/>
          </a:xfrm>
        </p:grpSpPr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0A81DF20-399E-AF89-89B0-FC2CA2FD0162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574675" y="0"/>
                  </a:moveTo>
                  <a:lnTo>
                    <a:pt x="812800" y="238125"/>
                  </a:lnTo>
                  <a:lnTo>
                    <a:pt x="812800" y="574675"/>
                  </a:lnTo>
                  <a:lnTo>
                    <a:pt x="574675" y="812800"/>
                  </a:lnTo>
                  <a:lnTo>
                    <a:pt x="238125" y="812800"/>
                  </a:lnTo>
                  <a:lnTo>
                    <a:pt x="0" y="5746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74675" y="0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40C2189F-9BF3-791F-6AA1-3475C52DFABC}"/>
                </a:ext>
              </a:extLst>
            </p:cNvPr>
            <p:cNvSpPr txBox="1"/>
            <p:nvPr/>
          </p:nvSpPr>
          <p:spPr>
            <a:xfrm>
              <a:off x="63500" y="25400"/>
              <a:ext cx="685800" cy="723900"/>
            </a:xfrm>
            <a:prstGeom prst="rect">
              <a:avLst/>
            </a:prstGeom>
          </p:spPr>
          <p:txBody>
            <a:bodyPr lIns="29445" tIns="29445" rIns="29445" bIns="29445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E9CDC51-FF0E-F171-6762-BB19A05B4D8E}"/>
              </a:ext>
            </a:extLst>
          </p:cNvPr>
          <p:cNvGrpSpPr/>
          <p:nvPr/>
        </p:nvGrpSpPr>
        <p:grpSpPr>
          <a:xfrm>
            <a:off x="-19007" y="2928677"/>
            <a:ext cx="4276134" cy="431080"/>
            <a:chOff x="0" y="2985846"/>
            <a:chExt cx="4276134" cy="431080"/>
          </a:xfrm>
        </p:grpSpPr>
        <p:grpSp>
          <p:nvGrpSpPr>
            <p:cNvPr id="28" name="Group 28">
              <a:extLst>
                <a:ext uri="{FF2B5EF4-FFF2-40B4-BE49-F238E27FC236}">
                  <a16:creationId xmlns:a16="http://schemas.microsoft.com/office/drawing/2014/main" id="{20253B4E-5254-3A4A-D2B3-FDC541381304}"/>
                </a:ext>
              </a:extLst>
            </p:cNvPr>
            <p:cNvGrpSpPr/>
            <p:nvPr/>
          </p:nvGrpSpPr>
          <p:grpSpPr>
            <a:xfrm>
              <a:off x="0" y="2985846"/>
              <a:ext cx="4224335" cy="431080"/>
              <a:chOff x="0" y="-38100"/>
              <a:chExt cx="4355842" cy="444500"/>
            </a:xfrm>
          </p:grpSpPr>
          <p:sp>
            <p:nvSpPr>
              <p:cNvPr id="29" name="Freeform 29">
                <a:extLst>
                  <a:ext uri="{FF2B5EF4-FFF2-40B4-BE49-F238E27FC236}">
                    <a16:creationId xmlns:a16="http://schemas.microsoft.com/office/drawing/2014/main" id="{98AC3028-4A73-A10C-B23F-D62CE7C18AED}"/>
                  </a:ext>
                </a:extLst>
              </p:cNvPr>
              <p:cNvSpPr/>
              <p:nvPr/>
            </p:nvSpPr>
            <p:spPr>
              <a:xfrm>
                <a:off x="0" y="0"/>
                <a:ext cx="4355842" cy="406400"/>
              </a:xfrm>
              <a:custGeom>
                <a:avLst/>
                <a:gdLst/>
                <a:ahLst/>
                <a:cxnLst/>
                <a:rect l="l" t="t" r="r" b="b"/>
                <a:pathLst>
                  <a:path w="4355842" h="406400">
                    <a:moveTo>
                      <a:pt x="4152642" y="0"/>
                    </a:moveTo>
                    <a:lnTo>
                      <a:pt x="0" y="0"/>
                    </a:lnTo>
                    <a:lnTo>
                      <a:pt x="0" y="406400"/>
                    </a:lnTo>
                    <a:lnTo>
                      <a:pt x="4152642" y="406400"/>
                    </a:lnTo>
                    <a:lnTo>
                      <a:pt x="4355842" y="203200"/>
                    </a:lnTo>
                    <a:lnTo>
                      <a:pt x="415264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42882">
                      <a:alpha val="100000"/>
                    </a:srgbClr>
                  </a:gs>
                  <a:gs pos="100000">
                    <a:srgbClr val="2A83D0">
                      <a:alpha val="100000"/>
                    </a:srgbClr>
                  </a:gs>
                </a:gsLst>
                <a:lin ang="0"/>
              </a:gradFill>
            </p:spPr>
            <p:txBody>
              <a:bodyPr/>
              <a:lstStyle/>
              <a:p>
                <a:endParaRPr lang="en-IN" sz="700"/>
              </a:p>
            </p:txBody>
          </p:sp>
          <p:sp>
            <p:nvSpPr>
              <p:cNvPr id="30" name="TextBox 30">
                <a:extLst>
                  <a:ext uri="{FF2B5EF4-FFF2-40B4-BE49-F238E27FC236}">
                    <a16:creationId xmlns:a16="http://schemas.microsoft.com/office/drawing/2014/main" id="{199C1F1F-4C5C-E8C0-1593-D5C9F695271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4241542" cy="444500"/>
              </a:xfrm>
              <a:prstGeom prst="rect">
                <a:avLst/>
              </a:prstGeom>
            </p:spPr>
            <p:txBody>
              <a:bodyPr lIns="25400" tIns="25400" rIns="25400" bIns="25400" rtlCol="0" anchor="ctr"/>
              <a:lstStyle/>
              <a:p>
                <a:pPr algn="ctr">
                  <a:lnSpc>
                    <a:spcPts val="1330"/>
                  </a:lnSpc>
                </a:pPr>
                <a:endParaRPr sz="700"/>
              </a:p>
            </p:txBody>
          </p:sp>
        </p:grpSp>
        <p:sp>
          <p:nvSpPr>
            <p:cNvPr id="44" name="TextBox 44">
              <a:extLst>
                <a:ext uri="{FF2B5EF4-FFF2-40B4-BE49-F238E27FC236}">
                  <a16:creationId xmlns:a16="http://schemas.microsoft.com/office/drawing/2014/main" id="{3578161E-D839-4793-89CB-83A287A2849E}"/>
                </a:ext>
              </a:extLst>
            </p:cNvPr>
            <p:cNvSpPr txBox="1"/>
            <p:nvPr/>
          </p:nvSpPr>
          <p:spPr>
            <a:xfrm>
              <a:off x="466725" y="3100839"/>
              <a:ext cx="3809409" cy="2235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943"/>
                </a:lnSpc>
              </a:pPr>
              <a:r>
                <a:rPr lang="en-US" sz="1400" b="1" spc="583" dirty="0">
                  <a:solidFill>
                    <a:srgbClr val="FFFFFF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PRESENTATION 2026</a:t>
              </a:r>
            </a:p>
          </p:txBody>
        </p:sp>
      </p:grpSp>
      <p:sp>
        <p:nvSpPr>
          <p:cNvPr id="40" name="TextBox 40">
            <a:extLst>
              <a:ext uri="{FF2B5EF4-FFF2-40B4-BE49-F238E27FC236}">
                <a16:creationId xmlns:a16="http://schemas.microsoft.com/office/drawing/2014/main" id="{EEE29F0A-1253-B8CE-E742-41B8B6EB922D}"/>
              </a:ext>
            </a:extLst>
          </p:cNvPr>
          <p:cNvSpPr txBox="1"/>
          <p:nvPr/>
        </p:nvSpPr>
        <p:spPr>
          <a:xfrm>
            <a:off x="2297731" y="4333406"/>
            <a:ext cx="1633432" cy="154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96"/>
              </a:lnSpc>
            </a:pPr>
            <a:r>
              <a:rPr lang="en-US" sz="1000" dirty="0"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Student Name</a:t>
            </a:r>
          </a:p>
        </p:txBody>
      </p:sp>
      <p:sp>
        <p:nvSpPr>
          <p:cNvPr id="42" name="TextBox 42">
            <a:extLst>
              <a:ext uri="{FF2B5EF4-FFF2-40B4-BE49-F238E27FC236}">
                <a16:creationId xmlns:a16="http://schemas.microsoft.com/office/drawing/2014/main" id="{2E9FAC26-1E84-D690-0FD4-B1A364AF40DE}"/>
              </a:ext>
            </a:extLst>
          </p:cNvPr>
          <p:cNvSpPr txBox="1"/>
          <p:nvPr/>
        </p:nvSpPr>
        <p:spPr>
          <a:xfrm>
            <a:off x="2288433" y="4521787"/>
            <a:ext cx="1633432" cy="2274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038"/>
              </a:lnSpc>
            </a:pPr>
            <a:r>
              <a:rPr lang="en-US" sz="1200" b="1" dirty="0" err="1" smtClean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rPr>
              <a:t>Priyanshi</a:t>
            </a:r>
            <a:r>
              <a:rPr lang="en-US" sz="1200" b="1" dirty="0" smtClean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rPr>
              <a:t> Mishra</a:t>
            </a:r>
            <a:endParaRPr lang="en-US" sz="1200" b="1" dirty="0">
              <a:solidFill>
                <a:srgbClr val="0D358D"/>
              </a:solidFill>
              <a:latin typeface="Arial" panose="020B0604020202020204" pitchFamily="34" charset="0"/>
              <a:ea typeface="Aileron Bold"/>
              <a:cs typeface="Arial" panose="020B0604020202020204" pitchFamily="34" charset="0"/>
              <a:sym typeface="Aileron Bold"/>
            </a:endParaRPr>
          </a:p>
        </p:txBody>
      </p:sp>
      <p:pic>
        <p:nvPicPr>
          <p:cNvPr id="50" name="Picture 49" descr="A blue circle with a person and a envelope in it&#10;&#10;AI-generated content may be incorrect.">
            <a:extLst>
              <a:ext uri="{FF2B5EF4-FFF2-40B4-BE49-F238E27FC236}">
                <a16:creationId xmlns:a16="http://schemas.microsoft.com/office/drawing/2014/main" id="{C926F708-70B7-B0DB-A148-0FA2830D925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6757" t="2453" r="27842" b="53701"/>
          <a:stretch>
            <a:fillRect/>
          </a:stretch>
        </p:blipFill>
        <p:spPr>
          <a:xfrm>
            <a:off x="1847345" y="4327098"/>
            <a:ext cx="395331" cy="381795"/>
          </a:xfrm>
          <a:prstGeom prst="rect">
            <a:avLst/>
          </a:prstGeom>
        </p:spPr>
      </p:pic>
      <p:sp>
        <p:nvSpPr>
          <p:cNvPr id="41" name="TextBox 41">
            <a:extLst>
              <a:ext uri="{FF2B5EF4-FFF2-40B4-BE49-F238E27FC236}">
                <a16:creationId xmlns:a16="http://schemas.microsoft.com/office/drawing/2014/main" id="{3403BDBE-05E2-50C5-0F55-4F0483352E2C}"/>
              </a:ext>
            </a:extLst>
          </p:cNvPr>
          <p:cNvSpPr txBox="1"/>
          <p:nvPr/>
        </p:nvSpPr>
        <p:spPr>
          <a:xfrm>
            <a:off x="4113170" y="4337493"/>
            <a:ext cx="1809978" cy="154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96"/>
              </a:lnSpc>
            </a:pPr>
            <a:r>
              <a:rPr lang="en-US" sz="1000" dirty="0"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Student Email</a:t>
            </a:r>
          </a:p>
        </p:txBody>
      </p:sp>
      <p:sp>
        <p:nvSpPr>
          <p:cNvPr id="43" name="TextBox 43">
            <a:extLst>
              <a:ext uri="{FF2B5EF4-FFF2-40B4-BE49-F238E27FC236}">
                <a16:creationId xmlns:a16="http://schemas.microsoft.com/office/drawing/2014/main" id="{B84F91E2-C42E-10B3-A03A-88AA58AF1258}"/>
              </a:ext>
            </a:extLst>
          </p:cNvPr>
          <p:cNvSpPr txBox="1"/>
          <p:nvPr/>
        </p:nvSpPr>
        <p:spPr>
          <a:xfrm>
            <a:off x="4094479" y="4472796"/>
            <a:ext cx="2859144" cy="5129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038"/>
              </a:lnSpc>
            </a:pPr>
            <a:r>
              <a:rPr lang="en-US" sz="1200" b="1" dirty="0" smtClean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rPr>
              <a:t>priyanshi.mishra07082006@gmail.com</a:t>
            </a:r>
            <a:endParaRPr lang="en-IN" dirty="0"/>
          </a:p>
          <a:p>
            <a:pPr>
              <a:lnSpc>
                <a:spcPts val="2038"/>
              </a:lnSpc>
            </a:pPr>
            <a:endParaRPr lang="en-US" sz="1200" b="1" dirty="0">
              <a:solidFill>
                <a:srgbClr val="0D358D"/>
              </a:solidFill>
              <a:latin typeface="Arial" panose="020B0604020202020204" pitchFamily="34" charset="0"/>
              <a:ea typeface="Aileron Bold"/>
              <a:cs typeface="Arial" panose="020B0604020202020204" pitchFamily="34" charset="0"/>
              <a:sym typeface="Aileron Bold"/>
            </a:endParaRPr>
          </a:p>
        </p:txBody>
      </p:sp>
      <p:pic>
        <p:nvPicPr>
          <p:cNvPr id="51" name="Picture 50" descr="A blue circle with a person and a envelope in it&#10;&#10;AI-generated content may be incorrect.">
            <a:extLst>
              <a:ext uri="{FF2B5EF4-FFF2-40B4-BE49-F238E27FC236}">
                <a16:creationId xmlns:a16="http://schemas.microsoft.com/office/drawing/2014/main" id="{EC8FEF14-C75E-1155-0600-B4343B3F57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6859" t="52379" r="26874" b="2349"/>
          <a:stretch>
            <a:fillRect/>
          </a:stretch>
        </p:blipFill>
        <p:spPr>
          <a:xfrm>
            <a:off x="3681209" y="4336376"/>
            <a:ext cx="398279" cy="389719"/>
          </a:xfrm>
          <a:prstGeom prst="rect">
            <a:avLst/>
          </a:prstGeom>
        </p:spPr>
      </p:pic>
      <p:grpSp>
        <p:nvGrpSpPr>
          <p:cNvPr id="66" name="Group 65">
            <a:extLst>
              <a:ext uri="{FF2B5EF4-FFF2-40B4-BE49-F238E27FC236}">
                <a16:creationId xmlns:a16="http://schemas.microsoft.com/office/drawing/2014/main" id="{658A7A12-122B-4A3C-11D3-C4D8BF732077}"/>
              </a:ext>
            </a:extLst>
          </p:cNvPr>
          <p:cNvGrpSpPr/>
          <p:nvPr/>
        </p:nvGrpSpPr>
        <p:grpSpPr>
          <a:xfrm>
            <a:off x="650760" y="4337076"/>
            <a:ext cx="2272871" cy="389019"/>
            <a:chOff x="2930000" y="4295282"/>
            <a:chExt cx="2272871" cy="389019"/>
          </a:xfrm>
        </p:grpSpPr>
        <p:sp>
          <p:nvSpPr>
            <p:cNvPr id="67" name="TextBox 41">
              <a:extLst>
                <a:ext uri="{FF2B5EF4-FFF2-40B4-BE49-F238E27FC236}">
                  <a16:creationId xmlns:a16="http://schemas.microsoft.com/office/drawing/2014/main" id="{5FE6F280-D970-382B-5260-25E219F86722}"/>
                </a:ext>
              </a:extLst>
            </p:cNvPr>
            <p:cNvSpPr txBox="1"/>
            <p:nvPr/>
          </p:nvSpPr>
          <p:spPr>
            <a:xfrm>
              <a:off x="2931940" y="4295282"/>
              <a:ext cx="1809978" cy="1588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296"/>
                </a:lnSpc>
              </a:pPr>
              <a:r>
                <a:rPr lang="en-US" sz="1000" dirty="0">
                  <a:latin typeface="Arial" panose="020B0604020202020204" pitchFamily="34" charset="0"/>
                  <a:ea typeface="Aileron"/>
                  <a:cs typeface="Arial" panose="020B0604020202020204" pitchFamily="34" charset="0"/>
                  <a:sym typeface="Aileron"/>
                </a:rPr>
                <a:t>Mentor Name</a:t>
              </a:r>
            </a:p>
          </p:txBody>
        </p:sp>
        <p:sp>
          <p:nvSpPr>
            <p:cNvPr id="68" name="TextBox 43">
              <a:extLst>
                <a:ext uri="{FF2B5EF4-FFF2-40B4-BE49-F238E27FC236}">
                  <a16:creationId xmlns:a16="http://schemas.microsoft.com/office/drawing/2014/main" id="{A541DFB6-306C-CD3E-24BD-6D7131F87B73}"/>
                </a:ext>
              </a:extLst>
            </p:cNvPr>
            <p:cNvSpPr txBox="1"/>
            <p:nvPr/>
          </p:nvSpPr>
          <p:spPr>
            <a:xfrm>
              <a:off x="2930000" y="4456866"/>
              <a:ext cx="2272871" cy="22743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038"/>
                </a:lnSpc>
              </a:pPr>
              <a:r>
                <a:rPr lang="en-US" sz="1200" b="1" dirty="0" err="1" smtClean="0">
                  <a:solidFill>
                    <a:srgbClr val="0D358D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Umamaheswari</a:t>
              </a:r>
              <a:endPara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endParaRPr>
            </a:p>
          </p:txBody>
        </p:sp>
      </p:grpSp>
      <p:pic>
        <p:nvPicPr>
          <p:cNvPr id="71" name="Picture 70">
            <a:extLst>
              <a:ext uri="{FF2B5EF4-FFF2-40B4-BE49-F238E27FC236}">
                <a16:creationId xmlns:a16="http://schemas.microsoft.com/office/drawing/2014/main" id="{4094A52A-31D4-B030-C8BD-9B0ACB0083E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8109" t="6546" r="28551" b="49509"/>
          <a:stretch>
            <a:fillRect/>
          </a:stretch>
        </p:blipFill>
        <p:spPr>
          <a:xfrm>
            <a:off x="220767" y="4357614"/>
            <a:ext cx="375815" cy="381063"/>
          </a:xfrm>
          <a:prstGeom prst="rect">
            <a:avLst/>
          </a:prstGeom>
        </p:spPr>
      </p:pic>
      <p:grpSp>
        <p:nvGrpSpPr>
          <p:cNvPr id="49" name="Group 48">
            <a:extLst>
              <a:ext uri="{FF2B5EF4-FFF2-40B4-BE49-F238E27FC236}">
                <a16:creationId xmlns:a16="http://schemas.microsoft.com/office/drawing/2014/main" id="{18150B14-0B49-9E22-C961-786A40F27A84}"/>
              </a:ext>
            </a:extLst>
          </p:cNvPr>
          <p:cNvGrpSpPr/>
          <p:nvPr/>
        </p:nvGrpSpPr>
        <p:grpSpPr>
          <a:xfrm>
            <a:off x="640733" y="769747"/>
            <a:ext cx="3051630" cy="258616"/>
            <a:chOff x="1068621" y="826472"/>
            <a:chExt cx="2166264" cy="183584"/>
          </a:xfrm>
        </p:grpSpPr>
        <p:pic>
          <p:nvPicPr>
            <p:cNvPr id="55" name="Picture 54" descr="A blue and black logo&#10;&#10;AI-generated content may be incorrect.">
              <a:extLst>
                <a:ext uri="{FF2B5EF4-FFF2-40B4-BE49-F238E27FC236}">
                  <a16:creationId xmlns:a16="http://schemas.microsoft.com/office/drawing/2014/main" id="{9016EA03-A173-06E1-C2CA-FF7DC65A363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68621" y="826472"/>
              <a:ext cx="632879" cy="158848"/>
            </a:xfrm>
            <a:prstGeom prst="rect">
              <a:avLst/>
            </a:prstGeom>
          </p:spPr>
        </p:pic>
        <p:pic>
          <p:nvPicPr>
            <p:cNvPr id="57" name="Picture 56" descr="A close up of a logo&#10;&#10;AI-generated content may be incorrect.">
              <a:extLst>
                <a:ext uri="{FF2B5EF4-FFF2-40B4-BE49-F238E27FC236}">
                  <a16:creationId xmlns:a16="http://schemas.microsoft.com/office/drawing/2014/main" id="{B084208C-F6C2-47AC-3616-A62F69B5317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670437" y="826472"/>
              <a:ext cx="564448" cy="183584"/>
            </a:xfrm>
            <a:prstGeom prst="rect">
              <a:avLst/>
            </a:prstGeom>
          </p:spPr>
        </p:pic>
      </p:grpSp>
      <p:sp>
        <p:nvSpPr>
          <p:cNvPr id="31" name="Shape 7">
            <a:extLst>
              <a:ext uri="{FF2B5EF4-FFF2-40B4-BE49-F238E27FC236}">
                <a16:creationId xmlns:a16="http://schemas.microsoft.com/office/drawing/2014/main" id="{4DEADC42-07CF-F7CC-6F54-42498EAA37B3}"/>
              </a:ext>
            </a:extLst>
          </p:cNvPr>
          <p:cNvSpPr/>
          <p:nvPr/>
        </p:nvSpPr>
        <p:spPr>
          <a:xfrm rot="18195971">
            <a:off x="5802826" y="2309413"/>
            <a:ext cx="283464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8">
            <a:extLst>
              <a:ext uri="{FF2B5EF4-FFF2-40B4-BE49-F238E27FC236}">
                <a16:creationId xmlns:a16="http://schemas.microsoft.com/office/drawing/2014/main" id="{51B3A474-02DA-6A59-3FFF-434FDDC06A2B}"/>
              </a:ext>
            </a:extLst>
          </p:cNvPr>
          <p:cNvSpPr/>
          <p:nvPr/>
        </p:nvSpPr>
        <p:spPr>
          <a:xfrm rot="18195971">
            <a:off x="6146363" y="2413708"/>
            <a:ext cx="246888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Shape 9">
            <a:extLst>
              <a:ext uri="{FF2B5EF4-FFF2-40B4-BE49-F238E27FC236}">
                <a16:creationId xmlns:a16="http://schemas.microsoft.com/office/drawing/2014/main" id="{075C146A-525E-EAB1-2438-92AF6E344C2C}"/>
              </a:ext>
            </a:extLst>
          </p:cNvPr>
          <p:cNvSpPr/>
          <p:nvPr/>
        </p:nvSpPr>
        <p:spPr>
          <a:xfrm rot="18195971">
            <a:off x="6482126" y="2528680"/>
            <a:ext cx="210312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Shape 9">
            <a:extLst>
              <a:ext uri="{FF2B5EF4-FFF2-40B4-BE49-F238E27FC236}">
                <a16:creationId xmlns:a16="http://schemas.microsoft.com/office/drawing/2014/main" id="{ED47441A-C600-ACAC-5391-EF118874C98C}"/>
              </a:ext>
            </a:extLst>
          </p:cNvPr>
          <p:cNvSpPr/>
          <p:nvPr/>
        </p:nvSpPr>
        <p:spPr>
          <a:xfrm rot="18195971">
            <a:off x="6735713" y="2647223"/>
            <a:ext cx="1872046" cy="116269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21A2EF52-784B-5BFA-EB88-FB9E7588BFF8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b="19729"/>
          <a:stretch>
            <a:fillRect/>
          </a:stretch>
        </p:blipFill>
        <p:spPr>
          <a:xfrm>
            <a:off x="211598" y="1046557"/>
            <a:ext cx="3854253" cy="184953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719809" y="3444582"/>
            <a:ext cx="30999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ts val="400"/>
              </a:spcBef>
              <a:spcAft>
                <a:spcPts val="400"/>
              </a:spcAft>
              <a:buNone/>
            </a:pPr>
            <a:r>
              <a:rPr lang="en-IN" b="1" dirty="0" smtClean="0">
                <a:solidFill>
                  <a:srgbClr val="1B3A8A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[Starbucks Data Analytics]</a:t>
            </a:r>
            <a:endParaRPr lang="en-IN" sz="1050" dirty="0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12236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0" y="610217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Outline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865657-EE51-429D-40B6-B64C80E4AB47}"/>
              </a:ext>
            </a:extLst>
          </p:cNvPr>
          <p:cNvSpPr txBox="1"/>
          <p:nvPr/>
        </p:nvSpPr>
        <p:spPr>
          <a:xfrm>
            <a:off x="125239" y="1080603"/>
            <a:ext cx="4446761" cy="3026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solidFill>
                  <a:schemeClr val="tx1"/>
                </a:solidFill>
                <a:effectLst/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Abstract of the Project</a:t>
            </a:r>
            <a:endParaRPr lang="en-IN" sz="1800" dirty="0">
              <a:solidFill>
                <a:schemeClr val="tx1"/>
              </a:solidFill>
              <a:latin typeface="Lato" panose="020F0502020204030203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Problem Statement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Proposed Solution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System Architecture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Live Demo of the Project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Embedded Video of Project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IN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Conclusion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800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Future Scope</a:t>
            </a:r>
          </a:p>
        </p:txBody>
      </p:sp>
      <p:pic>
        <p:nvPicPr>
          <p:cNvPr id="25" name="Picture 2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C3A7F110-9D19-8523-45D3-77B1951C8835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5250" t="7320" r="18976" b="28715"/>
          <a:stretch>
            <a:fillRect/>
          </a:stretch>
        </p:blipFill>
        <p:spPr>
          <a:xfrm>
            <a:off x="5378824" y="1034325"/>
            <a:ext cx="2868706" cy="3290047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40079" y="60752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Abstract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849028-F25C-7DA0-DE56-0DC142EECABD}"/>
              </a:ext>
            </a:extLst>
          </p:cNvPr>
          <p:cNvSpPr txBox="1"/>
          <p:nvPr/>
        </p:nvSpPr>
        <p:spPr>
          <a:xfrm>
            <a:off x="125240" y="1046432"/>
            <a:ext cx="4751560" cy="372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dirty="0" smtClean="0">
                <a:latin typeface="Lato" panose="020F0502020204030203" pitchFamily="34" charset="0"/>
                <a:ea typeface="Open Sans" panose="020B0606030504020204" pitchFamily="34" charset="0"/>
                <a:cs typeface="Arial" panose="020B0604020202020204" pitchFamily="34" charset="0"/>
              </a:rPr>
              <a:t>Overview</a:t>
            </a:r>
            <a:r>
              <a:rPr lang="en-US" dirty="0">
                <a:latin typeface="Lato" panose="020F0502020204030203" pitchFamily="34" charset="0"/>
                <a:ea typeface="Open Sans" panose="020B0606030504020204" pitchFamily="34" charset="0"/>
                <a:cs typeface="Arial" panose="020B0604020202020204" pitchFamily="34" charset="0"/>
              </a:rPr>
              <a:t>: This project transforms raw Starbucks customer data into a high-level Business Intelligence </a:t>
            </a:r>
            <a:r>
              <a:rPr lang="en-US" dirty="0" smtClean="0">
                <a:latin typeface="Lato" panose="020F0502020204030203" pitchFamily="34" charset="0"/>
                <a:ea typeface="Open Sans" panose="020B0606030504020204" pitchFamily="34" charset="0"/>
                <a:cs typeface="Arial" panose="020B0604020202020204" pitchFamily="34" charset="0"/>
              </a:rPr>
              <a:t>dashboard.</a:t>
            </a:r>
            <a:endParaRPr lang="en-US" sz="1800" dirty="0">
              <a:solidFill>
                <a:schemeClr val="tx1"/>
              </a:solidFill>
              <a:effectLst/>
              <a:latin typeface="Lato" panose="020F0502020204030203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dirty="0" smtClean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Objective</a:t>
            </a:r>
            <a:r>
              <a:rPr lang="en-US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: To identify patterns in customer behavior and use Microsoft Copilot to automate the creation of data-driven marketing strategies.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dirty="0" smtClean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Tools</a:t>
            </a:r>
            <a:r>
              <a:rPr lang="en-US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: Microsoft </a:t>
            </a:r>
            <a:r>
              <a:rPr lang="en-US" dirty="0" smtClean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Excel, </a:t>
            </a:r>
            <a:r>
              <a:rPr lang="en-US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Microsoft Copilot (AI Analysis</a:t>
            </a:r>
            <a:r>
              <a:rPr lang="en-US" dirty="0" smtClean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),and </a:t>
            </a:r>
            <a:r>
              <a:rPr lang="en-US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Power BI for visualization</a:t>
            </a:r>
            <a:r>
              <a:rPr lang="en-US" dirty="0" smtClean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.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Outcome: A strategic dashboard that replaces manual data interpretation with AI-generated business </a:t>
            </a:r>
            <a:r>
              <a:rPr lang="en-US" dirty="0" smtClean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insights.</a:t>
            </a:r>
          </a:p>
        </p:txBody>
      </p:sp>
      <p:sp>
        <p:nvSpPr>
          <p:cNvPr id="5" name="Freeform 4"/>
          <p:cNvSpPr/>
          <p:nvPr/>
        </p:nvSpPr>
        <p:spPr>
          <a:xfrm>
            <a:off x="5627575" y="1099441"/>
            <a:ext cx="3070450" cy="2997875"/>
          </a:xfrm>
          <a:custGeom>
            <a:avLst/>
            <a:gdLst/>
            <a:ahLst/>
            <a:cxnLst/>
            <a:rect l="l" t="t" r="r" b="b"/>
            <a:pathLst>
              <a:path w="4114800" h="4017541">
                <a:moveTo>
                  <a:pt x="0" y="0"/>
                </a:moveTo>
                <a:lnTo>
                  <a:pt x="4114800" y="0"/>
                </a:lnTo>
                <a:lnTo>
                  <a:pt x="4114800" y="4017541"/>
                </a:lnTo>
                <a:lnTo>
                  <a:pt x="0" y="401754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:lc="http://schemas.openxmlformats.org/drawingml/2006/lockedCanvas" xmlns="" r:embed="rId5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/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27B2E24-A610-1C01-FCDD-9B6B67A72E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8151" y="873760"/>
            <a:ext cx="3947240" cy="3947240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20623" y="611286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Problem Statement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76AC24-5CB7-D860-6A01-E6D8ABD38610}"/>
              </a:ext>
            </a:extLst>
          </p:cNvPr>
          <p:cNvSpPr txBox="1"/>
          <p:nvPr/>
        </p:nvSpPr>
        <p:spPr>
          <a:xfrm>
            <a:off x="125241" y="990564"/>
            <a:ext cx="5109368" cy="4103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dirty="0" smtClean="0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Starbucks </a:t>
            </a:r>
            <a:r>
              <a:rPr lang="en-US" dirty="0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collects millions of transaction points, but without proper visualization, it’s difficult for managers to see which offers actually drive </a:t>
            </a:r>
            <a:r>
              <a:rPr lang="en-US" dirty="0" smtClean="0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profit.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dirty="0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Data Inconsistency: Raw transaction logs are often </a:t>
            </a:r>
            <a:r>
              <a:rPr lang="en-US" dirty="0" err="1" smtClean="0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messy,that</a:t>
            </a:r>
            <a:r>
              <a:rPr lang="en-US" dirty="0" smtClean="0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US" dirty="0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lead to inaccurate business conclusions.</a:t>
            </a:r>
            <a:r>
              <a:rPr lang="en-US" dirty="0" smtClean="0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​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dirty="0" smtClean="0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Operational </a:t>
            </a:r>
            <a:r>
              <a:rPr lang="en-US" dirty="0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Inconvenience: Manually sorting through </a:t>
            </a:r>
            <a:r>
              <a:rPr lang="en-US" dirty="0" smtClean="0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3000</a:t>
            </a:r>
            <a:r>
              <a:rPr lang="en-US" dirty="0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+ rows of data to find specific trends </a:t>
            </a:r>
            <a:r>
              <a:rPr lang="en-US" dirty="0" smtClean="0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is </a:t>
            </a:r>
            <a:r>
              <a:rPr lang="en-US" dirty="0">
                <a:latin typeface="Lato" panose="020F0502020204030203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slow, exhausting, and prone to human error.</a:t>
            </a: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dirty="0" smtClean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Target Marketing </a:t>
            </a:r>
            <a:r>
              <a:rPr lang="en-US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Managers and Strategic Decision Makers.</a:t>
            </a:r>
            <a:endParaRPr lang="en-US" dirty="0" smtClean="0">
              <a:latin typeface="Lato" panose="020F0502020204030203" pitchFamily="34" charset="0"/>
              <a:ea typeface="+mn-lt"/>
              <a:cs typeface="Arial" panose="020B0604020202020204" pitchFamily="34" charset="0"/>
            </a:endParaRPr>
          </a:p>
          <a:p>
            <a:pPr marL="228600" indent="-228600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dirty="0" smtClean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Gap</a:t>
            </a:r>
            <a:r>
              <a:rPr lang="en-US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: There is a </a:t>
            </a:r>
            <a:r>
              <a:rPr lang="en-US" dirty="0" smtClean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gap </a:t>
            </a:r>
            <a:r>
              <a:rPr lang="en-US" dirty="0">
                <a:latin typeface="Lato" panose="020F0502020204030203" pitchFamily="34" charset="0"/>
                <a:ea typeface="+mn-lt"/>
                <a:cs typeface="Arial" panose="020B0604020202020204" pitchFamily="34" charset="0"/>
              </a:rPr>
              <a:t>between having "Big Data" and having "Useful Insights" that a manager can actually act upon quickly. </a:t>
            </a:r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1F49F94-4102-44CC-056B-FA1BB4DA8D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0286" y="725532"/>
            <a:ext cx="4903714" cy="4203183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25486" y="61693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Proposed Solution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846320" y="128016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000" dirty="0"/>
          </a:p>
        </p:txBody>
      </p:sp>
      <p:sp>
        <p:nvSpPr>
          <p:cNvPr id="5" name="Text 12"/>
          <p:cNvSpPr/>
          <p:nvPr/>
        </p:nvSpPr>
        <p:spPr>
          <a:xfrm>
            <a:off x="125486" y="1153486"/>
            <a:ext cx="4583999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Automated </a:t>
            </a:r>
            <a:r>
              <a:rPr lang="en-US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Dashboard: I am building a structured Excel/Power BI dashboard that automatically cleans and categorizes customers into distinct "Personas</a:t>
            </a:r>
            <a:r>
              <a:rPr lang="en-US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.“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Lato" panose="020F0502020204030203" pitchFamily="34" charset="0"/>
                <a:cs typeface="Arial" panose="020B0604020202020204" pitchFamily="34" charset="0"/>
              </a:rPr>
              <a:t>AI Interrogation: Using Microsoft Copilot to analyze the dashboard and generate executive summaries instantly</a:t>
            </a:r>
            <a:r>
              <a:rPr lang="en-US" dirty="0" smtClean="0">
                <a:latin typeface="Lato" panose="020F0502020204030203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latin typeface="Lato" panose="020F0502020204030203" pitchFamily="34" charset="0"/>
                <a:cs typeface="Arial" panose="020B0604020202020204" pitchFamily="34" charset="0"/>
              </a:rPr>
              <a:t>​</a:t>
            </a:r>
            <a:r>
              <a:rPr lang="en-US" dirty="0">
                <a:latin typeface="Lato" panose="020F0502020204030203" pitchFamily="34" charset="0"/>
                <a:cs typeface="Arial" panose="020B0604020202020204" pitchFamily="34" charset="0"/>
              </a:rPr>
              <a:t>Innovation: Shifting from "Reactive Reporting" (what happened) to "Proactive Strategy" (what to do next).</a:t>
            </a:r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0" y="60292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System Architecture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35408" y="1243200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167328" y="1243200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326848" y="1279776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Data Input / Source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326848" y="1700400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600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Integration </a:t>
            </a:r>
            <a:r>
              <a:rPr lang="en-US" sz="16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of Portfolio (offers), Profile (demographics), and Transcript (events) datasets.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670248" y="1243200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 sz="160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8602168" y="1243200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761688" y="1279776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Processing / Analysis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761688" y="1700400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600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Data </a:t>
            </a:r>
            <a:r>
              <a:rPr lang="en-US" sz="16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cleaning in Excel to </a:t>
            </a:r>
            <a:r>
              <a:rPr lang="en-US" sz="1600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remove </a:t>
            </a:r>
            <a:r>
              <a:rPr lang="en-US" sz="16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unnecessary columns, changed data type, added age segmentation, handled income.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35408" y="2969856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167328" y="2969856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26848" y="3006432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AI / Tool Integration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26848" y="3427056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600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AI </a:t>
            </a:r>
            <a:r>
              <a:rPr lang="en-US" sz="16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Integration: Microsoft Copilot used to derive behavioral patterns and generate insights, summaries, or content </a:t>
            </a:r>
            <a:r>
              <a:rPr lang="en-US" sz="1600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outputs and Power BI to </a:t>
            </a:r>
            <a:r>
              <a:rPr lang="en-US" sz="16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build a interactive </a:t>
            </a:r>
            <a:r>
              <a:rPr lang="en-US" sz="1600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dashboards.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670248" y="2969856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602168" y="2969856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761688" y="3006432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Output / Dashboard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761688" y="3427056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600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An </a:t>
            </a:r>
            <a:r>
              <a:rPr lang="en-US" sz="1600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interactive dashboard or structured analytical report that clearly communicates key insights from the </a:t>
            </a:r>
            <a:r>
              <a:rPr lang="en-US" sz="1600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data.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20623" y="607298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Live Demo of Project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5487" y="1105839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Here's the list of some demo screenshots / features of the project:</a:t>
            </a: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978408" y="1648237"/>
            <a:ext cx="1371600" cy="1371600"/>
          </a:xfrm>
          <a:prstGeom prst="ellipse">
            <a:avLst/>
          </a:prstGeom>
          <a:solidFill>
            <a:srgbClr val="1565C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74320" y="2196877"/>
            <a:ext cx="2788920" cy="26517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74320" y="2413802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Demo 1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11480" y="2919838"/>
            <a:ext cx="2514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922776" y="1648237"/>
            <a:ext cx="1371600" cy="1371600"/>
          </a:xfrm>
          <a:prstGeom prst="ellipse">
            <a:avLst/>
          </a:prstGeom>
          <a:solidFill>
            <a:srgbClr val="FFC00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218688" y="2196877"/>
            <a:ext cx="2788920" cy="2651760"/>
          </a:xfrm>
          <a:prstGeom prst="rect">
            <a:avLst/>
          </a:prstGeom>
          <a:solidFill>
            <a:srgbClr val="FDF3ED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218688" y="2413802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Demo 2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355848" y="2919838"/>
            <a:ext cx="2514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825996" y="1642795"/>
            <a:ext cx="1371600" cy="1371600"/>
          </a:xfrm>
          <a:prstGeom prst="ellipse">
            <a:avLst/>
          </a:prstGeom>
          <a:solidFill>
            <a:srgbClr val="1565C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867144" y="1648237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3600" dirty="0">
              <a:latin typeface="Lato" panose="020F05020202040302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185916" y="2200479"/>
            <a:ext cx="2788920" cy="26517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163056" y="2413802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Demo 3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300216" y="2919838"/>
            <a:ext cx="2514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505" y="2788979"/>
            <a:ext cx="2378139" cy="20037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2003" y="2788978"/>
            <a:ext cx="2614160" cy="1977919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Picture 2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0216" y="2788979"/>
            <a:ext cx="2514600" cy="2003712"/>
          </a:xfrm>
          <a:prstGeom prst="rect">
            <a:avLst/>
          </a:prstGeom>
          <a:noFill/>
          <a:ln>
            <a:noFill/>
          </a:ln>
        </p:spPr>
      </p:pic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20040" y="621792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of Project Demo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685800"/>
            <a:ext cx="8412480" cy="3977640"/>
          </a:xfrm>
          <a:prstGeom prst="rect">
            <a:avLst/>
          </a:prstGeom>
          <a:solidFill>
            <a:srgbClr val="ECEFF1"/>
          </a:solidFill>
          <a:ln w="25400">
            <a:solidFill>
              <a:srgbClr val="1B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365760" y="685800"/>
            <a:ext cx="8412480" cy="384048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502920" y="77724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731520" y="777240"/>
            <a:ext cx="164592" cy="164592"/>
          </a:xfrm>
          <a:prstGeom prst="ellipse">
            <a:avLst/>
          </a:prstGeom>
          <a:solidFill>
            <a:srgbClr val="FEBC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960120" y="77724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1371600" y="694944"/>
            <a:ext cx="5029200" cy="283464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1389888" y="768096"/>
            <a:ext cx="49926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https://1drv.ms/v/c/c54ba3bd296ecefd/IQAZiKX--</a:t>
            </a:r>
            <a:r>
              <a:rPr lang="en-US" sz="900" dirty="0" smtClean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4IhQaU71Q5OgC82ATBplKqLNmg3QUPG6DcmjJM?e=bfg5td</a:t>
            </a:r>
            <a:endParaRPr lang="en-US" sz="900" dirty="0"/>
          </a:p>
          <a:p>
            <a:endParaRPr lang="en-US" sz="900" dirty="0" smtClean="0">
              <a:solidFill>
                <a:srgbClr val="607D8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749040" y="1828800"/>
            <a:ext cx="1645920" cy="1645920"/>
          </a:xfrm>
          <a:prstGeom prst="ellipse">
            <a:avLst/>
          </a:prstGeom>
          <a:solidFill>
            <a:srgbClr val="1B3A8A">
              <a:alpha val="8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3749040" y="182880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FFFFFF"/>
                </a:solidFill>
              </a:rPr>
              <a:t>▶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14400" y="379476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your project demo video.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embed a video your live project.]</a:t>
            </a:r>
            <a:endParaRPr lang="en-US" sz="1100" dirty="0"/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1" y="612064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Conclusion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5486" y="1084927"/>
            <a:ext cx="4446513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Successfully simplified a massive dataset into a clear, visual tool for decision-makers.</a:t>
            </a:r>
            <a:r>
              <a:rPr lang="en-US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​</a:t>
            </a:r>
          </a:p>
          <a:p>
            <a:r>
              <a:rPr lang="en-US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Removed </a:t>
            </a:r>
            <a:r>
              <a:rPr lang="en-US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the inconvenience of manual data entry and ensured data integrity by resolving inconsistencies</a:t>
            </a:r>
            <a:r>
              <a:rPr lang="en-US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.</a:t>
            </a:r>
          </a:p>
          <a:p>
            <a:r>
              <a:rPr lang="en-US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 The </a:t>
            </a:r>
            <a:r>
              <a:rPr lang="en-US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project </a:t>
            </a:r>
            <a:r>
              <a:rPr lang="en-US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adds value that how </a:t>
            </a:r>
            <a:r>
              <a:rPr lang="en-US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AI and Data Analytics can turn "hidden" information into a clear roadmap for business growth and customer satisfaction. </a:t>
            </a:r>
            <a:r>
              <a:rPr lang="en-US" dirty="0" smtClean="0">
                <a:latin typeface="Lato" panose="020F0502020204030203" pitchFamily="34" charset="0"/>
                <a:cs typeface="Arial" panose="020B0604020202020204" pitchFamily="34" charset="0"/>
              </a:rPr>
              <a:t>Provided </a:t>
            </a:r>
            <a:r>
              <a:rPr lang="en-US" dirty="0">
                <a:latin typeface="Lato" panose="020F0502020204030203" pitchFamily="34" charset="0"/>
                <a:cs typeface="Arial" panose="020B0604020202020204" pitchFamily="34" charset="0"/>
              </a:rPr>
              <a:t>a scalable framework for personalized marketing that solves the "Inconvenience" of manual data analysis. </a:t>
            </a:r>
          </a:p>
        </p:txBody>
      </p:sp>
      <p:sp>
        <p:nvSpPr>
          <p:cNvPr id="19" name="Text 17"/>
          <p:cNvSpPr/>
          <p:nvPr/>
        </p:nvSpPr>
        <p:spPr>
          <a:xfrm>
            <a:off x="5303520" y="34747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200" dirty="0">
                <a:solidFill>
                  <a:srgbClr val="FFFFFF"/>
                </a:solidFill>
                <a:latin typeface="Lato" panose="020F0502020204030203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600" dirty="0">
              <a:latin typeface="Lato" panose="020F0502020204030203" pitchFamily="34" charset="0"/>
            </a:endParaRPr>
          </a:p>
        </p:txBody>
      </p:sp>
      <p:pic>
        <p:nvPicPr>
          <p:cNvPr id="20" name="Picture 19" descr="A blue circle with a pencil and paper with a star on it&#10;&#10;AI-generated content may be incorrect.">
            <a:extLst>
              <a:ext uri="{FF2B5EF4-FFF2-40B4-BE49-F238E27FC236}">
                <a16:creationId xmlns:a16="http://schemas.microsoft.com/office/drawing/2014/main" id="{BAE68F53-65EE-1751-E92D-7025D978B68E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5397" t="26296" r="26825" b="29752"/>
          <a:stretch>
            <a:fillRect/>
          </a:stretch>
        </p:blipFill>
        <p:spPr>
          <a:xfrm>
            <a:off x="4898406" y="971550"/>
            <a:ext cx="3597456" cy="3309355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23247" y="613561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Future Scope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3247" y="1082104"/>
            <a:ext cx="4114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Real-time </a:t>
            </a:r>
            <a:r>
              <a:rPr lang="en-US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Tracking: Connecting the dashboard to live store data for up-to-the-minute decision making.</a:t>
            </a:r>
            <a:r>
              <a:rPr lang="en-US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Predictive </a:t>
            </a:r>
            <a:r>
              <a:rPr lang="en-US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Budgeting: Using AI to predict which marketing campaigns will have the highest return before spending the budget</a:t>
            </a:r>
            <a:r>
              <a:rPr lang="en-US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​Multichannel </a:t>
            </a:r>
            <a:r>
              <a:rPr lang="en-US" dirty="0">
                <a:solidFill>
                  <a:srgbClr val="1A1A2E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Expansion: Applying this dashboard model to analyze customer loyalty across other retail and financial service platforms.</a:t>
            </a:r>
            <a:endParaRPr lang="en-US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12449DB-BF51-DAAE-EA83-F4C0089676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1635" y="879613"/>
            <a:ext cx="4512365" cy="3384274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914400" y="30175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200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AICW Fellowship  |  Student Project Presentation 2026</a:t>
            </a:r>
            <a:endParaRPr lang="en-US" sz="14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3566160"/>
            <a:ext cx="73152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100" dirty="0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  LinkedIn  |   </a:t>
            </a:r>
            <a:r>
              <a:rPr lang="en-US" sz="1100" dirty="0" err="1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Edunet</a:t>
            </a:r>
            <a:r>
              <a:rPr lang="en-US" sz="1100" dirty="0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 Foundation</a:t>
            </a:r>
            <a:endParaRPr lang="en-US" sz="11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F7A740B1-0782-B37E-5F62-503024E32BC9}"/>
              </a:ext>
            </a:extLst>
          </p:cNvPr>
          <p:cNvSpPr txBox="1"/>
          <p:nvPr/>
        </p:nvSpPr>
        <p:spPr>
          <a:xfrm>
            <a:off x="2632982" y="1705295"/>
            <a:ext cx="3878036" cy="11750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686"/>
              </a:lnSpc>
            </a:pPr>
            <a:r>
              <a:rPr lang="en-US" sz="5000" b="1" dirty="0">
                <a:solidFill>
                  <a:srgbClr val="0D358D"/>
                </a:solidFill>
                <a:latin typeface="Lato" panose="020F0502020204030203" pitchFamily="34" charset="0"/>
                <a:ea typeface="Aileron Ultra-Bold"/>
                <a:cs typeface="Arial" panose="020B0604020202020204" pitchFamily="34" charset="0"/>
                <a:sym typeface="Aileron Ultra-Bold"/>
              </a:rPr>
              <a:t>Thank You</a:t>
            </a: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DESIGN_ID_OFFICE THEME" val="ROGxgyxs"/>
  <p:tag name="ARTICULATE_PROJECT_OPEN" val="0"/>
  <p:tag name="ARTICULATE_SLIDE_COUNT" val="1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355</TotalTime>
  <Words>583</Words>
  <Application>Microsoft Office PowerPoint</Application>
  <PresentationFormat>On-screen Show (16:9)</PresentationFormat>
  <Paragraphs>73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0" baseType="lpstr">
      <vt:lpstr>Aileron</vt:lpstr>
      <vt:lpstr>Aileron Bold</vt:lpstr>
      <vt:lpstr>Aileron Ultra-Bold</vt:lpstr>
      <vt:lpstr>Arial</vt:lpstr>
      <vt:lpstr>Calibri</vt:lpstr>
      <vt:lpstr>Lato</vt:lpstr>
      <vt:lpstr>Open Sans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AICW Student Project Presentation Template 2026</dc:title>
  <dc:subject>PptxGenJS Presentation</dc:subject>
  <dc:creator>PptxGenJS</dc:creator>
  <cp:lastModifiedBy>Shivanshu Mishra</cp:lastModifiedBy>
  <cp:revision>42</cp:revision>
  <dcterms:created xsi:type="dcterms:W3CDTF">2026-02-18T09:17:23Z</dcterms:created>
  <dcterms:modified xsi:type="dcterms:W3CDTF">2026-04-07T12:59:23Z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1F7F540C-1CAD-4091-84DE-558331FD12BA</vt:lpwstr>
  </property>
  <property fmtid="{D5CDD505-2E9C-101B-9397-08002B2CF9AE}" pid="3" name="ArticulatePath">
    <vt:lpwstr>https://edunetfoundationorg-my.sharepoint.com/personal/kaisar_edunetfoundation_org/Documents/Task/AICW/Student project/AI Fellowship Project Template2026 (1)</vt:lpwstr>
  </property>
</Properties>
</file>